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246f104864f0c" /><Relationship Type="http://schemas.openxmlformats.org/officeDocument/2006/relationships/extended-properties" Target="/docProps/app.xml" Id="R85013645cfe04041" /><Relationship Type="http://schemas.openxmlformats.org/officeDocument/2006/relationships/officeDocument" Target="/ppt/presentation.xml" Id="R09e4b2524c4a4f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16df19476040e6"/>
  </p:sldMasterIdLst>
  <p:notesMasterIdLst>
    <p:notesMasterId xmlns:r="http://schemas.openxmlformats.org/officeDocument/2006/relationships" r:id="R1504aa25b0804e17"/>
  </p:notesMasterIdLst>
  <p:sldIdLst>
    <p:sldId xmlns:r="http://schemas.openxmlformats.org/officeDocument/2006/relationships" id="256" r:id="R24152cc27f9d4db6"/>
    <p:sldId xmlns:r="http://schemas.openxmlformats.org/officeDocument/2006/relationships" id="257" r:id="Rd87f30a1fbc04c36"/>
    <p:sldId xmlns:r="http://schemas.openxmlformats.org/officeDocument/2006/relationships" id="258" r:id="R55cad2d42d7340df"/>
    <p:sldId xmlns:r="http://schemas.openxmlformats.org/officeDocument/2006/relationships" id="259" r:id="R17a29659e46848b5"/>
    <p:sldId xmlns:r="http://schemas.openxmlformats.org/officeDocument/2006/relationships" id="260" r:id="Rc7ca4a4940dd452e"/>
    <p:sldId xmlns:r="http://schemas.openxmlformats.org/officeDocument/2006/relationships" id="261" r:id="R259718370efc4a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b87bab44344b6" /><Relationship Type="http://schemas.openxmlformats.org/officeDocument/2006/relationships/slideMaster" Target="/ppt/slideMasters/slideMaster1.xml" Id="Rb316df19476040e6" /><Relationship Type="http://schemas.openxmlformats.org/officeDocument/2006/relationships/notesMaster" Target="/ppt/notesMasters/notesMaster1.xml" Id="R1504aa25b0804e17" /><Relationship Type="http://schemas.openxmlformats.org/officeDocument/2006/relationships/presProps" Target="/ppt/presProps.xml" Id="R168b29b2f18e43c5" /><Relationship Type="http://schemas.openxmlformats.org/officeDocument/2006/relationships/tableStyles" Target="/ppt/tableStyles.xml" Id="R7bec8abff95545ba" /><Relationship Type="http://schemas.openxmlformats.org/officeDocument/2006/relationships/slide" Target="/ppt/slides/slide1.xml" Id="R24152cc27f9d4db6" /><Relationship Type="http://schemas.openxmlformats.org/officeDocument/2006/relationships/slide" Target="/ppt/slides/slide2.xml" Id="Rd87f30a1fbc04c36" /><Relationship Type="http://schemas.openxmlformats.org/officeDocument/2006/relationships/slide" Target="/ppt/slides/slide3.xml" Id="R55cad2d42d7340df" /><Relationship Type="http://schemas.openxmlformats.org/officeDocument/2006/relationships/slide" Target="/ppt/slides/slide4.xml" Id="R17a29659e46848b5" /><Relationship Type="http://schemas.openxmlformats.org/officeDocument/2006/relationships/slide" Target="/ppt/slides/slide5.xml" Id="Rc7ca4a4940dd452e" /><Relationship Type="http://schemas.openxmlformats.org/officeDocument/2006/relationships/slide" Target="/ppt/slides/slide6.xml" Id="R259718370efc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02749770e7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2cd55b93241e3" /><Relationship Type="http://schemas.openxmlformats.org/officeDocument/2006/relationships/notesMaster" Target="/ppt/notesMasters/notesMaster1.xml" Id="R475ede7b9959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5aa3824bc94056" /><Relationship Type="http://schemas.openxmlformats.org/officeDocument/2006/relationships/notesMaster" Target="/ppt/notesMasters/notesMaster1.xml" Id="R896a9b4173a8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d79ade8c294a75" /><Relationship Type="http://schemas.openxmlformats.org/officeDocument/2006/relationships/notesMaster" Target="/ppt/notesMasters/notesMaster1.xml" Id="R311f5b084c87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c64e5021c04268" /><Relationship Type="http://schemas.openxmlformats.org/officeDocument/2006/relationships/notesMaster" Target="/ppt/notesMasters/notesMaster1.xml" Id="R3762a33f1dec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c3fe8280874035" /><Relationship Type="http://schemas.openxmlformats.org/officeDocument/2006/relationships/notesMaster" Target="/ppt/notesMasters/notesMaster1.xml" Id="R97e6c482b37643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23375372d24bfd" /><Relationship Type="http://schemas.openxmlformats.org/officeDocument/2006/relationships/notesMaster" Target="/ppt/notesMasters/notesMaster1.xml" Id="R2336457587e746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1668e08cd46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9d2af1b3444b6a" /><Relationship Type="http://schemas.openxmlformats.org/officeDocument/2006/relationships/slideLayout" Target="/ppt/slideLayouts/slideLayout1.xml" Id="R8ab706cc535241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706cc535241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02683b8554f3a" /><Relationship Type="http://schemas.openxmlformats.org/officeDocument/2006/relationships/image" Target="/ppt/media/image.jpeg" Id="R0468fd7923d14059" /><Relationship Type="http://schemas.openxmlformats.org/officeDocument/2006/relationships/notesSlide" Target="/ppt/notesSlides/notesSlide1.xml" Id="Re4f1d17e7169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42e52738f4101" /><Relationship Type="http://schemas.openxmlformats.org/officeDocument/2006/relationships/image" Target="/ppt/media/image2.jpeg" Id="Rd839592cab5549e6" /><Relationship Type="http://schemas.openxmlformats.org/officeDocument/2006/relationships/notesSlide" Target="/ppt/notesSlides/notesSlide2.xml" Id="Re697cf790270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22ef4808c4de8" /><Relationship Type="http://schemas.openxmlformats.org/officeDocument/2006/relationships/notesSlide" Target="/ppt/notesSlides/notesSlide3.xml" Id="R158e46d2a0b4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c6326950a4453" /><Relationship Type="http://schemas.openxmlformats.org/officeDocument/2006/relationships/image" Target="/ppt/media/image3.jpeg" Id="Raa2e7887fafd4e12" /><Relationship Type="http://schemas.openxmlformats.org/officeDocument/2006/relationships/notesSlide" Target="/ppt/notesSlides/notesSlide4.xml" Id="Rb15d98cf8136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69ac166cb4377" /><Relationship Type="http://schemas.openxmlformats.org/officeDocument/2006/relationships/image" Target="/ppt/media/image4.jpeg" Id="R69299a72a52a4b8a" /><Relationship Type="http://schemas.openxmlformats.org/officeDocument/2006/relationships/image" Target="/ppt/media/image5.jpeg" Id="Rc1b99d1156384787" /><Relationship Type="http://schemas.openxmlformats.org/officeDocument/2006/relationships/notesSlide" Target="/ppt/notesSlides/notesSlide5.xml" Id="R300aa51fde62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fb6916c624152" /><Relationship Type="http://schemas.openxmlformats.org/officeDocument/2006/relationships/image" Target="/ppt/media/image6.jpeg" Id="R993a5801214741be" /><Relationship Type="http://schemas.openxmlformats.org/officeDocument/2006/relationships/notesSlide" Target="/ppt/notesSlides/notesSlide6.xml" Id="R92367a6457524c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dark-field">
            <a:extLst xmlns:a="http://schemas.openxmlformats.org/drawingml/2006/main">
              <a:ext uri="{FF2B5EF4-FFF2-40B4-BE49-F238E27FC236}">
                <a16:creationId xmlns:a16="http://schemas.microsoft.com/office/drawing/2014/main" id="{3F25F76C-D1A4-4CF4-B87E-8E1897C2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C25"/>
          </a:solidFill>
          <a:ln xmlns:a="http://schemas.openxmlformats.org/drawingml/2006/main" w="0">
            <a:solidFill>
              <a:srgbClr val="092C25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6E6621C-0072-46D6-A4AF-804D170F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OPENAI BUILD WEEK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E5A7241-0B63-4FBD-A93A-7ABB3F4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5905500" cy="201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See the next
wealth band.
Know the structural gap.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503A60-ACA8-4D16-A619-F0FE1CE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561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A privacy-first wealth structure report across L1–L15.</a:t>
            </a:r>
          </a:p>
        </p:txBody>
      </p:sp>
      <p:cxnSp>
        <p:nvCxnSpPr>
          <p:cNvPr id="21" name="cover-accent-rule"/>
          <p:cNvCxnSpPr/>
          <p:nvPr/>
        </p:nvCxnSpPr>
        <p:spPr>
          <a:xfrm xmlns:a="http://schemas.openxmlformats.org/drawingml/2006/main">
            <a:off x="495300" y="4914900"/>
            <a:ext cx="1028700" cy="191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7B66"/>
            </a:solidFill>
            <a:prstDash val="solid"/>
          </a:ln>
        </p:spPr>
      </p:cxnSp>
      <p:sp>
        <p:nvSpPr>
          <p:cNvPr id="6" name="cover-tech-1">
            <a:extLst xmlns:a="http://schemas.openxmlformats.org/drawingml/2006/main">
              <a:ext uri="{FF2B5EF4-FFF2-40B4-BE49-F238E27FC236}">
                <a16:creationId xmlns:a16="http://schemas.microsoft.com/office/drawing/2014/main" id="{0E272B32-FD75-46D4-A2B8-5E3CFCF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Built with GPT‑5.6</a:t>
            </a:r>
          </a:p>
        </p:txBody>
      </p:sp>
      <p:sp>
        <p:nvSpPr>
          <p:cNvPr id="7" name="cover-tech-2">
            <a:extLst xmlns:a="http://schemas.openxmlformats.org/drawingml/2006/main">
              <a:ext uri="{FF2B5EF4-FFF2-40B4-BE49-F238E27FC236}">
                <a16:creationId xmlns:a16="http://schemas.microsoft.com/office/drawing/2014/main" id="{03C926D7-EEB9-4204-9AD9-105DF697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0065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Live on Google Cloud Run</a:t>
            </a:r>
          </a:p>
        </p:txBody>
      </p:sp>
      <p:sp>
        <p:nvSpPr>
          <p:cNvPr id="8" name="cover-url">
            <a:extLst xmlns:a="http://schemas.openxmlformats.org/drawingml/2006/main">
              <a:ext uri="{FF2B5EF4-FFF2-40B4-BE49-F238E27FC236}">
                <a16:creationId xmlns:a16="http://schemas.microsoft.com/office/drawing/2014/main" id="{7759E00E-17FD-4955-B22F-020D115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581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wealth-copy-470320899177.asia-northeast3.run.app</a:t>
            </a:r>
          </a:p>
        </p:txBody>
      </p:sp>
      <p:cxnSp>
        <p:nvCxnSpPr>
          <p:cNvPr id="25" name="footer-rule-1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10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AE7961CD-0A16-4007-AA40-35F8A6A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11" name="footer-num-1">
            <a:extLst xmlns:a="http://schemas.openxmlformats.org/drawingml/2006/main">
              <a:ext uri="{FF2B5EF4-FFF2-40B4-BE49-F238E27FC236}">
                <a16:creationId xmlns:a16="http://schemas.microsoft.com/office/drawing/2014/main" id="{A10E9336-481C-41C4-BB37-A00B107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01 / 06</a:t>
            </a:r>
          </a:p>
        </p:txBody>
      </p:sp>
      <p:sp>
        <p:nvSpPr>
          <p:cNvPr id="12" name="brand-mark">
            <a:extLst xmlns:a="http://schemas.openxmlformats.org/drawingml/2006/main">
              <a:ext uri="{FF2B5EF4-FFF2-40B4-BE49-F238E27FC236}">
                <a16:creationId xmlns:a16="http://schemas.microsoft.com/office/drawing/2014/main" id="{40B61609-17F5-4790-8D5B-27349FA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4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W</a:t>
            </a:r>
          </a:p>
        </p:txBody>
      </p:sp>
      <p:sp>
        <p:nvSpPr>
          <p:cNvPr id="13" name="brand-name">
            <a:extLst xmlns:a="http://schemas.openxmlformats.org/drawingml/2006/main">
              <a:ext uri="{FF2B5EF4-FFF2-40B4-BE49-F238E27FC236}">
                <a16:creationId xmlns:a16="http://schemas.microsoft.com/office/drawing/2014/main" id="{85A1E66D-30E8-47B1-AEE9-272BD79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8625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WealthCopy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8fd7923d14059"/>
          <a:stretch xmlns:a="http://schemas.openxmlformats.org/drawingml/2006/main"/>
        </p:blipFill>
        <p:spPr>
          <a:xfrm xmlns:a="http://schemas.openxmlformats.org/drawingml/2006/main">
            <a:off x="7448550" y="1969793"/>
            <a:ext cx="4000500" cy="2251665"/>
          </a:xfrm>
          <a:prstGeom xmlns:a="http://schemas.openxmlformats.org/drawingml/2006/main" prst="roundRect">
            <a:avLst>
              <a:gd name="adj" fmla="val 4865"/>
            </a:avLst>
          </a:prstGeom>
        </p:spPr>
      </p:pic>
      <p:sp>
        <p:nvSpPr>
          <p:cNvPr id="15" name="cover-image-label">
            <a:extLst xmlns:a="http://schemas.openxmlformats.org/drawingml/2006/main">
              <a:ext uri="{FF2B5EF4-FFF2-40B4-BE49-F238E27FC236}">
                <a16:creationId xmlns:a16="http://schemas.microsoft.com/office/drawing/2014/main" id="{1D16DBCE-61FA-4673-8868-85B35F1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197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LIVE PRODUCT</a:t>
            </a:r>
          </a:p>
        </p:txBody>
      </p:sp>
      <p:sp>
        <p:nvSpPr>
          <p:cNvPr id="16" name="cover-image-caption">
            <a:extLst xmlns:a="http://schemas.openxmlformats.org/drawingml/2006/main">
              <a:ext uri="{FF2B5EF4-FFF2-40B4-BE49-F238E27FC236}">
                <a16:creationId xmlns:a16="http://schemas.microsoft.com/office/drawing/2014/main" id="{BA3936CD-38DC-492C-9B86-36ECB651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76875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L1 → L15 · next-band comparison</a:t>
            </a:r>
          </a:p>
        </p:txBody>
      </p:sp>
    </p:spTree>
    <p:extLst>
      <p:ext uri="{BB962C8B-B14F-4D97-AF65-F5344CB8AC3E}">
        <p14:creationId xmlns:p14="http://schemas.microsoft.com/office/powerpoint/2010/main" val="1555164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2-eyebrow">
            <a:extLst xmlns:a="http://schemas.openxmlformats.org/drawingml/2006/main">
              <a:ext uri="{FF2B5EF4-FFF2-40B4-BE49-F238E27FC236}">
                <a16:creationId xmlns:a16="http://schemas.microsoft.com/office/drawing/2014/main" id="{832809EF-D2D5-47B1-9B22-EE5DAE13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01 / PROBLEM → PRODUCT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9E167D64-ED0B-4470-89EA-9D617B4C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Most wealth tools return a balance.
WealthCopy returns a next-band report.</a:t>
            </a:r>
          </a:p>
        </p:txBody>
      </p:sp>
      <p:cxnSp>
        <p:nvCxnSpPr>
          <p:cNvPr id="25" name="s2-rule"/>
          <p:cNvCxnSpPr/>
          <p:nvPr/>
        </p:nvCxnSpPr>
        <p:spPr>
          <a:xfrm xmlns:a="http://schemas.openxmlformats.org/drawingml/2006/main">
            <a:off x="495300" y="1866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4" name="s2-num-1">
            <a:extLst xmlns:a="http://schemas.openxmlformats.org/drawingml/2006/main">
              <a:ext uri="{FF2B5EF4-FFF2-40B4-BE49-F238E27FC236}">
                <a16:creationId xmlns:a16="http://schemas.microsoft.com/office/drawing/2014/main" id="{64B9E789-A312-42EC-A918-6B6068E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s2-step-1-title">
            <a:extLst xmlns:a="http://schemas.openxmlformats.org/drawingml/2006/main">
              <a:ext uri="{FF2B5EF4-FFF2-40B4-BE49-F238E27FC236}">
                <a16:creationId xmlns:a16="http://schemas.microsoft.com/office/drawing/2014/main" id="{8C739157-036D-4028-9E2E-730BC4D9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Locate</a:t>
            </a:r>
          </a:p>
        </p:txBody>
      </p:sp>
      <p:sp>
        <p:nvSpPr>
          <p:cNvPr id="6" name="s2-step-1-body">
            <a:extLst xmlns:a="http://schemas.openxmlformats.org/drawingml/2006/main">
              <a:ext uri="{FF2B5EF4-FFF2-40B4-BE49-F238E27FC236}">
                <a16:creationId xmlns:a16="http://schemas.microsoft.com/office/drawing/2014/main" id="{781C6EE6-664B-4C47-8636-0B4F79C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Automatic L1–L15 band
from household net worth</a:t>
            </a:r>
          </a:p>
        </p:txBody>
      </p:sp>
      <p:cxnSp>
        <p:nvCxnSpPr>
          <p:cNvPr id="29" name="s2-step-rule-1"/>
          <p:cNvCxnSpPr/>
          <p:nvPr/>
        </p:nvCxnSpPr>
        <p:spPr>
          <a:xfrm xmlns:a="http://schemas.openxmlformats.org/drawingml/2006/main">
            <a:off x="495300" y="3238500"/>
            <a:ext cx="47625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8" name="s2-num-2">
            <a:extLst xmlns:a="http://schemas.openxmlformats.org/drawingml/2006/main">
              <a:ext uri="{FF2B5EF4-FFF2-40B4-BE49-F238E27FC236}">
                <a16:creationId xmlns:a16="http://schemas.microsoft.com/office/drawing/2014/main" id="{66F6F966-F04D-4976-AC85-6F1180D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s2-step-2-title">
            <a:extLst xmlns:a="http://schemas.openxmlformats.org/drawingml/2006/main">
              <a:ext uri="{FF2B5EF4-FFF2-40B4-BE49-F238E27FC236}">
                <a16:creationId xmlns:a16="http://schemas.microsoft.com/office/drawing/2014/main" id="{8E1DC934-7889-4F38-8ED5-32FAC53D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Compare</a:t>
            </a:r>
          </a:p>
        </p:txBody>
      </p:sp>
      <p:sp>
        <p:nvSpPr>
          <p:cNvPr id="10" name="s2-step-2-body">
            <a:extLst xmlns:a="http://schemas.openxmlformats.org/drawingml/2006/main">
              <a:ext uri="{FF2B5EF4-FFF2-40B4-BE49-F238E27FC236}">
                <a16:creationId xmlns:a16="http://schemas.microsoft.com/office/drawing/2014/main" id="{90B5F944-1150-4350-A2B1-5996C4A5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Eight asset groups against
the next-band reference</a:t>
            </a:r>
          </a:p>
        </p:txBody>
      </p:sp>
      <p:cxnSp>
        <p:nvCxnSpPr>
          <p:cNvPr id="33" name="s2-step-rule-2"/>
          <p:cNvCxnSpPr/>
          <p:nvPr/>
        </p:nvCxnSpPr>
        <p:spPr>
          <a:xfrm xmlns:a="http://schemas.openxmlformats.org/drawingml/2006/main">
            <a:off x="495300" y="4552950"/>
            <a:ext cx="47625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12" name="s2-num-3">
            <a:extLst xmlns:a="http://schemas.openxmlformats.org/drawingml/2006/main">
              <a:ext uri="{FF2B5EF4-FFF2-40B4-BE49-F238E27FC236}">
                <a16:creationId xmlns:a16="http://schemas.microsoft.com/office/drawing/2014/main" id="{C3D6195B-574E-4AD7-A1EB-1EFBA215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s2-step-3-title">
            <a:extLst xmlns:a="http://schemas.openxmlformats.org/drawingml/2006/main">
              <a:ext uri="{FF2B5EF4-FFF2-40B4-BE49-F238E27FC236}">
                <a16:creationId xmlns:a16="http://schemas.microsoft.com/office/drawing/2014/main" id="{0ABC5264-DC0E-4F60-A936-E7F95B0D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Prioritize</a:t>
            </a:r>
          </a:p>
        </p:txBody>
      </p:sp>
      <p:sp>
        <p:nvSpPr>
          <p:cNvPr id="14" name="s2-step-3-body">
            <a:extLst xmlns:a="http://schemas.openxmlformats.org/drawingml/2006/main">
              <a:ext uri="{FF2B5EF4-FFF2-40B4-BE49-F238E27FC236}">
                <a16:creationId xmlns:a16="http://schemas.microsoft.com/office/drawing/2014/main" id="{31B37AF4-67CE-4CB1-9315-00474D3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361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Safety → three adjustments
→ a 12-month route</a:t>
            </a:r>
          </a:p>
        </p:txBody>
      </p:sp>
      <p:sp>
        <p:nvSpPr>
          <p:cNvPr id="15" name="s2-proof-bar">
            <a:extLst xmlns:a="http://schemas.openxmlformats.org/drawingml/2006/main">
              <a:ext uri="{FF2B5EF4-FFF2-40B4-BE49-F238E27FC236}">
                <a16:creationId xmlns:a16="http://schemas.microsoft.com/office/drawing/2014/main" id="{B1F20A81-9B43-4C6A-B1CA-3472B8BB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67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FEA"/>
          </a:solidFill>
          <a:ln xmlns:a="http://schemas.openxmlformats.org/drawingml/2006/main" w="0">
            <a:solidFill>
              <a:srgbClr val="E2EFEA"/>
            </a:solidFill>
            <a:prstDash val="solid"/>
          </a:ln>
        </p:spPr>
      </p:sp>
      <p:sp>
        <p:nvSpPr>
          <p:cNvPr id="16" name="s2-proof-copy">
            <a:extLst xmlns:a="http://schemas.openxmlformats.org/drawingml/2006/main">
              <a:ext uri="{FF2B5EF4-FFF2-40B4-BE49-F238E27FC236}">
                <a16:creationId xmlns:a16="http://schemas.microsoft.com/office/drawing/2014/main" id="{567D1F53-67BE-4FBA-9E59-C3AE4F4A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447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No product picks. No progress theater. One connected report.</a:t>
            </a:r>
          </a:p>
        </p:txBody>
      </p:sp>
      <p:cxnSp>
        <p:nvCxnSpPr>
          <p:cNvPr id="39" name="footer-rule-2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1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ADBF30E3-B1BE-43D1-B0C6-DB851B0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19" name="footer-num-2">
            <a:extLst xmlns:a="http://schemas.openxmlformats.org/drawingml/2006/main">
              <a:ext uri="{FF2B5EF4-FFF2-40B4-BE49-F238E27FC236}">
                <a16:creationId xmlns:a16="http://schemas.microsoft.com/office/drawing/2014/main" id="{C3781260-5D46-4DE0-A90D-F124757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02 / 06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9592cab5549e6"/>
          <a:srcRect xmlns:a="http://schemas.openxmlformats.org/drawingml/2006/main" l="11416" t="0" r="114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4550" y="2057400"/>
            <a:ext cx="5772150" cy="4210050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21" name="s2-input-mask">
            <a:extLst xmlns:a="http://schemas.openxmlformats.org/drawingml/2006/main">
              <a:ext uri="{FF2B5EF4-FFF2-40B4-BE49-F238E27FC236}">
                <a16:creationId xmlns:a16="http://schemas.microsoft.com/office/drawing/2014/main" id="{E4CB6620-1B4C-48A9-BD17-4E194F4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C"/>
          </a:solidFill>
          <a:ln xmlns:a="http://schemas.openxmlformats.org/drawingml/2006/main" w="0">
            <a:solidFill>
              <a:srgbClr val="F4F2EC"/>
            </a:solidFill>
            <a:prstDash val="solid"/>
          </a:ln>
        </p:spPr>
      </p:sp>
      <p:sp>
        <p:nvSpPr>
          <p:cNvPr id="22" name="s2-input-mask-label">
            <a:extLst xmlns:a="http://schemas.openxmlformats.org/drawingml/2006/main">
              <a:ext uri="{FF2B5EF4-FFF2-40B4-BE49-F238E27FC236}">
                <a16:creationId xmlns:a16="http://schemas.microsoft.com/office/drawing/2014/main" id="{3CCB4BE1-67CD-4C95-8E43-F22C032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8-GROUP INPUT</a:t>
            </a:r>
          </a:p>
        </p:txBody>
      </p:sp>
    </p:spTree>
    <p:extLst>
      <p:ext uri="{BB962C8B-B14F-4D97-AF65-F5344CB8AC3E}">
        <p14:creationId xmlns:p14="http://schemas.microsoft.com/office/powerpoint/2010/main" val="395832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3-eyebrow">
            <a:extLst xmlns:a="http://schemas.openxmlformats.org/drawingml/2006/main">
              <a:ext uri="{FF2B5EF4-FFF2-40B4-BE49-F238E27FC236}">
                <a16:creationId xmlns:a16="http://schemas.microsoft.com/office/drawing/2014/main" id="{1EC31B01-2322-4675-8063-6B1128C4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02 / ARCHITECTURE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1BD4F422-484C-410A-9E0D-31984D48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12014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Deterministic financial truth.
GPT‑5.6 explanation orchestration.</a:t>
            </a:r>
          </a:p>
        </p:txBody>
      </p:sp>
      <p:sp>
        <p:nvSpPr>
          <p:cNvPr id="3" name="s3-subtitle">
            <a:extLst xmlns:a="http://schemas.openxmlformats.org/drawingml/2006/main">
              <a:ext uri="{FF2B5EF4-FFF2-40B4-BE49-F238E27FC236}">
                <a16:creationId xmlns:a16="http://schemas.microsoft.com/office/drawing/2014/main" id="{962883BC-0D15-4327-B07A-F7670DD5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The model never owns amounts, levels, safety rules, or free-form financial advice.</a:t>
            </a:r>
          </a:p>
        </p:txBody>
      </p:sp>
      <p:cxnSp>
        <p:nvCxnSpPr>
          <p:cNvPr id="35" name="s3-connector-1"/>
          <p:cNvCxnSpPr/>
          <p:nvPr/>
        </p:nvCxnSpPr>
        <p:spPr>
          <a:xfrm xmlns:a="http://schemas.openxmlformats.org/drawingml/2006/main">
            <a:off x="2876550" y="3448050"/>
            <a:ext cx="62865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4D5C0"/>
            </a:solidFill>
            <a:prstDash val="solid"/>
          </a:ln>
        </p:spPr>
      </p:cxnSp>
      <p:cxnSp>
        <p:nvCxnSpPr>
          <p:cNvPr id="36" name="s3-connector-2"/>
          <p:cNvCxnSpPr/>
          <p:nvPr/>
        </p:nvCxnSpPr>
        <p:spPr>
          <a:xfrm xmlns:a="http://schemas.openxmlformats.org/drawingml/2006/main">
            <a:off x="5762625" y="3448050"/>
            <a:ext cx="62865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4D5C0"/>
            </a:solidFill>
            <a:prstDash val="solid"/>
          </a:ln>
        </p:spPr>
      </p:cxnSp>
      <p:cxnSp>
        <p:nvCxnSpPr>
          <p:cNvPr id="37" name="s3-connector-3"/>
          <p:cNvCxnSpPr/>
          <p:nvPr/>
        </p:nvCxnSpPr>
        <p:spPr>
          <a:xfrm xmlns:a="http://schemas.openxmlformats.org/drawingml/2006/main">
            <a:off x="8648700" y="3448050"/>
            <a:ext cx="628650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4D5C0"/>
            </a:solidFill>
            <a:prstDash val="solid"/>
          </a:ln>
        </p:spPr>
      </p:cxnSp>
      <p:sp>
        <p:nvSpPr>
          <p:cNvPr id="7" name="s3-arrow-1">
            <a:extLst xmlns:a="http://schemas.openxmlformats.org/drawingml/2006/main">
              <a:ext uri="{FF2B5EF4-FFF2-40B4-BE49-F238E27FC236}">
                <a16:creationId xmlns:a16="http://schemas.microsoft.com/office/drawing/2014/main" id="{5695A879-3CE7-4150-A488-9B776C0B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48025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8" name="s3-arrow-2">
            <a:extLst xmlns:a="http://schemas.openxmlformats.org/drawingml/2006/main">
              <a:ext uri="{FF2B5EF4-FFF2-40B4-BE49-F238E27FC236}">
                <a16:creationId xmlns:a16="http://schemas.microsoft.com/office/drawing/2014/main" id="{FE6F9A93-ADA2-4C3E-BA8A-AEFD1EA7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48025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s3-arrow-3">
            <a:extLst xmlns:a="http://schemas.openxmlformats.org/drawingml/2006/main">
              <a:ext uri="{FF2B5EF4-FFF2-40B4-BE49-F238E27FC236}">
                <a16:creationId xmlns:a16="http://schemas.microsoft.com/office/drawing/2014/main" id="{FEE4FB27-B453-440E-B3B9-24741EC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48025"/>
            <a:ext cx="28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s3-node-1">
            <a:extLst xmlns:a="http://schemas.openxmlformats.org/drawingml/2006/main">
              <a:ext uri="{FF2B5EF4-FFF2-40B4-BE49-F238E27FC236}">
                <a16:creationId xmlns:a16="http://schemas.microsoft.com/office/drawing/2014/main" id="{BBA1031C-53E5-4DE0-BEBB-2AB644EE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2EFEA"/>
          </a:solidFill>
          <a:ln xmlns:a="http://schemas.openxmlformats.org/drawingml/2006/main" w="9525">
            <a:solidFill>
              <a:srgbClr val="C9CEC8"/>
            </a:solidFill>
            <a:prstDash val="solid"/>
          </a:ln>
        </p:spPr>
      </p:sp>
      <p:sp>
        <p:nvSpPr>
          <p:cNvPr id="11" name="s3-node-2">
            <a:extLst xmlns:a="http://schemas.openxmlformats.org/drawingml/2006/main">
              <a:ext uri="{FF2B5EF4-FFF2-40B4-BE49-F238E27FC236}">
                <a16:creationId xmlns:a16="http://schemas.microsoft.com/office/drawing/2014/main" id="{9B70116E-0B4A-488D-A2A9-C817446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2EC"/>
          </a:solidFill>
          <a:ln xmlns:a="http://schemas.openxmlformats.org/drawingml/2006/main" w="9525">
            <a:solidFill>
              <a:srgbClr val="C9CEC8"/>
            </a:solidFill>
            <a:prstDash val="solid"/>
          </a:ln>
        </p:spPr>
      </p:sp>
      <p:sp>
        <p:nvSpPr>
          <p:cNvPr id="12" name="s3-node-3">
            <a:extLst xmlns:a="http://schemas.openxmlformats.org/drawingml/2006/main">
              <a:ext uri="{FF2B5EF4-FFF2-40B4-BE49-F238E27FC236}">
                <a16:creationId xmlns:a16="http://schemas.microsoft.com/office/drawing/2014/main" id="{C4C2D8B5-19E1-4660-BC8B-0D4955D2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92C25"/>
          </a:solidFill>
          <a:ln xmlns:a="http://schemas.openxmlformats.org/drawingml/2006/main" w="9525">
            <a:solidFill>
              <a:srgbClr val="092C25"/>
            </a:solidFill>
            <a:prstDash val="solid"/>
          </a:ln>
        </p:spPr>
      </p:sp>
      <p:sp>
        <p:nvSpPr>
          <p:cNvPr id="13" name="s3-node-4">
            <a:extLst xmlns:a="http://schemas.openxmlformats.org/drawingml/2006/main">
              <a:ext uri="{FF2B5EF4-FFF2-40B4-BE49-F238E27FC236}">
                <a16:creationId xmlns:a16="http://schemas.microsoft.com/office/drawing/2014/main" id="{8E659E2F-74C5-495E-BD55-7191713E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47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2EFEA"/>
          </a:solidFill>
          <a:ln xmlns:a="http://schemas.openxmlformats.org/drawingml/2006/main" w="9525">
            <a:solidFill>
              <a:srgbClr val="C9CEC8"/>
            </a:solidFill>
            <a:prstDash val="solid"/>
          </a:ln>
        </p:spPr>
      </p:sp>
      <p:sp>
        <p:nvSpPr>
          <p:cNvPr id="14" name="s3-node-1-num">
            <a:extLst xmlns:a="http://schemas.openxmlformats.org/drawingml/2006/main">
              <a:ext uri="{FF2B5EF4-FFF2-40B4-BE49-F238E27FC236}">
                <a16:creationId xmlns:a16="http://schemas.microsoft.com/office/drawing/2014/main" id="{FDCEB977-2143-46D1-9B86-0506471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5" name="s3-node-1-title">
            <a:extLst xmlns:a="http://schemas.openxmlformats.org/drawingml/2006/main">
              <a:ext uri="{FF2B5EF4-FFF2-40B4-BE49-F238E27FC236}">
                <a16:creationId xmlns:a16="http://schemas.microsoft.com/office/drawing/2014/main" id="{D938470E-8C0B-484E-9D70-E5D8DD95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HOUSEHOLD INPUT</a:t>
            </a:r>
          </a:p>
        </p:txBody>
      </p:sp>
      <p:sp>
        <p:nvSpPr>
          <p:cNvPr id="16" name="s3-node-1-body">
            <a:extLst xmlns:a="http://schemas.openxmlformats.org/drawingml/2006/main">
              <a:ext uri="{FF2B5EF4-FFF2-40B4-BE49-F238E27FC236}">
                <a16:creationId xmlns:a16="http://schemas.microsoft.com/office/drawing/2014/main" id="{D75765B7-4E47-4E33-8213-0359233F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9621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8 asset groups
Debt · income · expenses
90-day event</a:t>
            </a:r>
          </a:p>
        </p:txBody>
      </p:sp>
      <p:sp>
        <p:nvSpPr>
          <p:cNvPr id="17" name="s3-node-2-num">
            <a:extLst xmlns:a="http://schemas.openxmlformats.org/drawingml/2006/main">
              <a:ext uri="{FF2B5EF4-FFF2-40B4-BE49-F238E27FC236}">
                <a16:creationId xmlns:a16="http://schemas.microsoft.com/office/drawing/2014/main" id="{AB59394D-61AC-473D-AEAC-E44FB6C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57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8" name="s3-node-2-title">
            <a:extLst xmlns:a="http://schemas.openxmlformats.org/drawingml/2006/main">
              <a:ext uri="{FF2B5EF4-FFF2-40B4-BE49-F238E27FC236}">
                <a16:creationId xmlns:a16="http://schemas.microsoft.com/office/drawing/2014/main" id="{719891E9-FF2B-499F-B865-B7F8FE6F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38450"/>
            <a:ext cx="1962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DETERMINISTIC ENGINE</a:t>
            </a:r>
          </a:p>
        </p:txBody>
      </p:sp>
      <p:sp>
        <p:nvSpPr>
          <p:cNvPr id="19" name="s3-node-2-body">
            <a:extLst xmlns:a="http://schemas.openxmlformats.org/drawingml/2006/main">
              <a:ext uri="{FF2B5EF4-FFF2-40B4-BE49-F238E27FC236}">
                <a16:creationId xmlns:a16="http://schemas.microsoft.com/office/drawing/2014/main" id="{D27691BF-CFAE-4B2A-AA7D-9608836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86150"/>
            <a:ext cx="1962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L1–L15 classification
Cash-flow &amp; risk gates
Composition gap</a:t>
            </a:r>
          </a:p>
        </p:txBody>
      </p:sp>
      <p:sp>
        <p:nvSpPr>
          <p:cNvPr id="20" name="s3-node-3-num">
            <a:extLst xmlns:a="http://schemas.openxmlformats.org/drawingml/2006/main">
              <a:ext uri="{FF2B5EF4-FFF2-40B4-BE49-F238E27FC236}">
                <a16:creationId xmlns:a16="http://schemas.microsoft.com/office/drawing/2014/main" id="{60EB0E81-46FA-40B9-A4A1-F173A2AD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1" name="s3-node-3-title">
            <a:extLst xmlns:a="http://schemas.openxmlformats.org/drawingml/2006/main">
              <a:ext uri="{FF2B5EF4-FFF2-40B4-BE49-F238E27FC236}">
                <a16:creationId xmlns:a16="http://schemas.microsoft.com/office/drawing/2014/main" id="{18B2C491-AE6C-40CD-8797-4B6155D6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962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GPT‑5.6
ORCHESTRATOR</a:t>
            </a:r>
          </a:p>
        </p:txBody>
      </p:sp>
      <p:sp>
        <p:nvSpPr>
          <p:cNvPr id="22" name="s3-node-3-body">
            <a:extLst xmlns:a="http://schemas.openxmlformats.org/drawingml/2006/main">
              <a:ext uri="{FF2B5EF4-FFF2-40B4-BE49-F238E27FC236}">
                <a16:creationId xmlns:a16="http://schemas.microsoft.com/office/drawing/2014/main" id="{449AAF39-CED7-44A3-9C20-D55EB80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19621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E8DF"/>
                </a:solidFill>
                <a:latin typeface="Arial"/>
                <a:ea typeface="Arial"/>
                <a:cs typeface="Arial"/>
              </a:defRPr>
            </a:pPr>
            <a:r>
              <a:t>Chooses 4 allowlisted IDs
Lead · order · connection · frame
Categorical signals only</a:t>
            </a:r>
          </a:p>
        </p:txBody>
      </p:sp>
      <p:sp>
        <p:nvSpPr>
          <p:cNvPr id="23" name="s3-node-4-num">
            <a:extLst xmlns:a="http://schemas.openxmlformats.org/drawingml/2006/main">
              <a:ext uri="{FF2B5EF4-FFF2-40B4-BE49-F238E27FC236}">
                <a16:creationId xmlns:a16="http://schemas.microsoft.com/office/drawing/2014/main" id="{D3D7D3B3-7032-4E6D-BBF2-1FF8D6D9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57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4" name="s3-node-4-title">
            <a:extLst xmlns:a="http://schemas.openxmlformats.org/drawingml/2006/main">
              <a:ext uri="{FF2B5EF4-FFF2-40B4-BE49-F238E27FC236}">
                <a16:creationId xmlns:a16="http://schemas.microsoft.com/office/drawing/2014/main" id="{640CE090-E47A-4AF4-A53D-6514E44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38450"/>
            <a:ext cx="1962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SERVER-MAPPED REPORT</a:t>
            </a:r>
          </a:p>
        </p:txBody>
      </p:sp>
      <p:sp>
        <p:nvSpPr>
          <p:cNvPr id="25" name="s3-node-4-body">
            <a:extLst xmlns:a="http://schemas.openxmlformats.org/drawingml/2006/main">
              <a:ext uri="{FF2B5EF4-FFF2-40B4-BE49-F238E27FC236}">
                <a16:creationId xmlns:a16="http://schemas.microsoft.com/office/drawing/2014/main" id="{13ABB668-164D-43F0-ABA3-29F570F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86150"/>
            <a:ext cx="19621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Approved Korean copy
3 priorities
12-month route</a:t>
            </a:r>
          </a:p>
        </p:txBody>
      </p:sp>
      <p:sp>
        <p:nvSpPr>
          <p:cNvPr id="26" name="s3-fallback-bar">
            <a:extLst xmlns:a="http://schemas.openxmlformats.org/drawingml/2006/main">
              <a:ext uri="{FF2B5EF4-FFF2-40B4-BE49-F238E27FC236}">
                <a16:creationId xmlns:a16="http://schemas.microsoft.com/office/drawing/2014/main" id="{DF2E13DC-3F25-4CC2-84AD-CF70049F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05400"/>
            <a:ext cx="11039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31"/>
          </a:solidFill>
          <a:ln xmlns:a="http://schemas.openxmlformats.org/drawingml/2006/main" w="0">
            <a:solidFill>
              <a:srgbClr val="123A31"/>
            </a:solidFill>
            <a:prstDash val="solid"/>
          </a:ln>
        </p:spPr>
      </p:sp>
      <p:sp>
        <p:nvSpPr>
          <p:cNvPr id="27" name="s3-fallback-label">
            <a:extLst xmlns:a="http://schemas.openxmlformats.org/drawingml/2006/main">
              <a:ext uri="{FF2B5EF4-FFF2-40B4-BE49-F238E27FC236}">
                <a16:creationId xmlns:a16="http://schemas.microsoft.com/office/drawing/2014/main" id="{21939DEC-94C6-4DDA-983F-3A486C1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FAIL CLOSED</a:t>
            </a:r>
          </a:p>
        </p:txBody>
      </p:sp>
      <p:sp>
        <p:nvSpPr>
          <p:cNvPr id="28" name="s3-fallback-copy">
            <a:extLst xmlns:a="http://schemas.openxmlformats.org/drawingml/2006/main">
              <a:ext uri="{FF2B5EF4-FFF2-40B4-BE49-F238E27FC236}">
                <a16:creationId xmlns:a16="http://schemas.microsoft.com/office/drawing/2014/main" id="{2265FD5F-EE9E-4187-B882-732D845F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38750"/>
            <a:ext cx="895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Invalid, missing, or context-unsafe model output returns the deterministic report.</a:t>
            </a:r>
          </a:p>
        </p:txBody>
      </p:sp>
      <p:cxnSp>
        <p:nvCxnSpPr>
          <p:cNvPr id="60" name="footer-rule-3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30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96D0D798-B84C-4FDA-9C9A-03DE0B5D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31" name="footer-num-3">
            <a:extLst xmlns:a="http://schemas.openxmlformats.org/drawingml/2006/main">
              <a:ext uri="{FF2B5EF4-FFF2-40B4-BE49-F238E27FC236}">
                <a16:creationId xmlns:a16="http://schemas.microsoft.com/office/drawing/2014/main" id="{DC265975-8766-489B-A9DA-4EE2B5D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697066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4-eyebrow">
            <a:extLst xmlns:a="http://schemas.openxmlformats.org/drawingml/2006/main">
              <a:ext uri="{FF2B5EF4-FFF2-40B4-BE49-F238E27FC236}">
                <a16:creationId xmlns:a16="http://schemas.microsoft.com/office/drawing/2014/main" id="{5A44338F-0122-4BB9-AD27-3B376D9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03 / ACTUAL SAMPLE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9F9A6953-010D-4076-B4AD-95AA8EC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1201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A KRW 400M household sees more than a KRW 100M gap.</a:t>
            </a:r>
          </a:p>
        </p:txBody>
      </p:sp>
      <p:sp>
        <p:nvSpPr>
          <p:cNvPr id="3" name="s4-image-backing">
            <a:extLst xmlns:a="http://schemas.openxmlformats.org/drawingml/2006/main">
              <a:ext uri="{FF2B5EF4-FFF2-40B4-BE49-F238E27FC236}">
                <a16:creationId xmlns:a16="http://schemas.microsoft.com/office/drawing/2014/main" id="{6C987265-EF2C-4E2C-9234-1B616C6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76200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92C25"/>
          </a:solidFill>
          <a:ln xmlns:a="http://schemas.openxmlformats.org/drawingml/2006/main" w="0">
            <a:solidFill>
              <a:srgbClr val="092C25"/>
            </a:solidFill>
            <a:prstDash val="solid"/>
          </a:ln>
        </p:spPr>
      </p:sp>
      <p:sp>
        <p:nvSpPr>
          <p:cNvPr id="4" name="s4-level">
            <a:extLst xmlns:a="http://schemas.openxmlformats.org/drawingml/2006/main">
              <a:ext uri="{FF2B5EF4-FFF2-40B4-BE49-F238E27FC236}">
                <a16:creationId xmlns:a16="http://schemas.microsoft.com/office/drawing/2014/main" id="{6ED39DFD-056A-4AB6-8A9B-FDEB0AE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2857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L6 → L7</a:t>
            </a:r>
          </a:p>
        </p:txBody>
      </p:sp>
      <p:cxnSp>
        <p:nvCxnSpPr>
          <p:cNvPr id="23" name="s4-side-rule-1"/>
          <p:cNvCxnSpPr/>
          <p:nvPr/>
        </p:nvCxnSpPr>
        <p:spPr>
          <a:xfrm xmlns:a="http://schemas.openxmlformats.org/drawingml/2006/main">
            <a:off x="8496300" y="2305050"/>
            <a:ext cx="2819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6" name="s4-stat-1">
            <a:extLst xmlns:a="http://schemas.openxmlformats.org/drawingml/2006/main">
              <a:ext uri="{FF2B5EF4-FFF2-40B4-BE49-F238E27FC236}">
                <a16:creationId xmlns:a16="http://schemas.microsoft.com/office/drawing/2014/main" id="{65E5D28C-6A7A-4ECE-A5A7-DE7D0C1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50%</a:t>
            </a:r>
          </a:p>
        </p:txBody>
      </p:sp>
      <p:sp>
        <p:nvSpPr>
          <p:cNvPr id="7" name="s4-stat-1-label">
            <a:extLst xmlns:a="http://schemas.openxmlformats.org/drawingml/2006/main">
              <a:ext uri="{FF2B5EF4-FFF2-40B4-BE49-F238E27FC236}">
                <a16:creationId xmlns:a16="http://schemas.microsoft.com/office/drawing/2014/main" id="{CE826144-78F7-4F5C-A798-ED6591C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through the current band</a:t>
            </a:r>
          </a:p>
        </p:txBody>
      </p:sp>
      <p:cxnSp>
        <p:nvCxnSpPr>
          <p:cNvPr id="26" name="s4-side-rule-2"/>
          <p:cNvCxnSpPr/>
          <p:nvPr/>
        </p:nvCxnSpPr>
        <p:spPr>
          <a:xfrm xmlns:a="http://schemas.openxmlformats.org/drawingml/2006/main">
            <a:off x="8496300" y="3657600"/>
            <a:ext cx="2819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9" name="s4-stat-2">
            <a:extLst xmlns:a="http://schemas.openxmlformats.org/drawingml/2006/main">
              <a:ext uri="{FF2B5EF4-FFF2-40B4-BE49-F238E27FC236}">
                <a16:creationId xmlns:a16="http://schemas.microsoft.com/office/drawing/2014/main" id="{8E128660-C24D-46EB-B945-98C1EEE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KRW 100M</a:t>
            </a:r>
          </a:p>
        </p:txBody>
      </p:sp>
      <p:sp>
        <p:nvSpPr>
          <p:cNvPr id="10" name="s4-stat-2-label">
            <a:extLst xmlns:a="http://schemas.openxmlformats.org/drawingml/2006/main">
              <a:ext uri="{FF2B5EF4-FFF2-40B4-BE49-F238E27FC236}">
                <a16:creationId xmlns:a16="http://schemas.microsoft.com/office/drawing/2014/main" id="{04F4781B-47DA-4575-B90E-55B39654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remaining to L7</a:t>
            </a:r>
          </a:p>
        </p:txBody>
      </p:sp>
      <p:cxnSp>
        <p:nvCxnSpPr>
          <p:cNvPr id="29" name="s4-side-rule-3"/>
          <p:cNvCxnSpPr/>
          <p:nvPr/>
        </p:nvCxnSpPr>
        <p:spPr>
          <a:xfrm xmlns:a="http://schemas.openxmlformats.org/drawingml/2006/main">
            <a:off x="8496300" y="4838700"/>
            <a:ext cx="2819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12" name="s4-stat-3">
            <a:extLst xmlns:a="http://schemas.openxmlformats.org/drawingml/2006/main">
              <a:ext uri="{FF2B5EF4-FFF2-40B4-BE49-F238E27FC236}">
                <a16:creationId xmlns:a16="http://schemas.microsoft.com/office/drawing/2014/main" id="{389D7D83-D3FB-4236-BED4-F605EAA5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9643E"/>
                </a:solidFill>
                <a:latin typeface="Arial"/>
                <a:ea typeface="Arial"/>
                <a:cs typeface="Arial"/>
              </a:defRPr>
            </a:pPr>
            <a:r>
              <a:t>+13.6pp</a:t>
            </a:r>
          </a:p>
        </p:txBody>
      </p:sp>
      <p:sp>
        <p:nvSpPr>
          <p:cNvPr id="13" name="s4-stat-3-label">
            <a:extLst xmlns:a="http://schemas.openxmlformats.org/drawingml/2006/main">
              <a:ext uri="{FF2B5EF4-FFF2-40B4-BE49-F238E27FC236}">
                <a16:creationId xmlns:a16="http://schemas.microsoft.com/office/drawing/2014/main" id="{232AE69E-367F-4B6E-9B20-AD0861C7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054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primary residence vs. the next-band reference ceiling</a:t>
            </a:r>
          </a:p>
        </p:txBody>
      </p:sp>
      <p:sp>
        <p:nvSpPr>
          <p:cNvPr id="14" name="s4-source">
            <a:extLst xmlns:a="http://schemas.openxmlformats.org/drawingml/2006/main">
              <a:ext uri="{FF2B5EF4-FFF2-40B4-BE49-F238E27FC236}">
                <a16:creationId xmlns:a16="http://schemas.microsoft.com/office/drawing/2014/main" id="{15E88335-5B31-41CE-BF90-6FA559B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Sample input: KRW 440M assets − KRW 40M debt = KRW 400M net worth. Internal diagnostic ranges, not market forecasts.</a:t>
            </a:r>
          </a:p>
        </p:txBody>
      </p:sp>
      <p:cxnSp>
        <p:nvCxnSpPr>
          <p:cNvPr id="33" name="footer-rule-4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1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D7EB2EFC-CC6C-4819-9E13-27B8AB1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17" name="footer-num-4">
            <a:extLst xmlns:a="http://schemas.openxmlformats.org/drawingml/2006/main">
              <a:ext uri="{FF2B5EF4-FFF2-40B4-BE49-F238E27FC236}">
                <a16:creationId xmlns:a16="http://schemas.microsoft.com/office/drawing/2014/main" id="{367FABA1-7BDC-4A96-B966-E5168F74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04 / 06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e7887fafd4e12"/>
          <a:srcRect xmlns:a="http://schemas.openxmlformats.org/drawingml/2006/main" l="0" t="41338" r="0" b="41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7391400" cy="3810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</p:spTree>
    <p:extLst>
      <p:ext uri="{BB962C8B-B14F-4D97-AF65-F5344CB8AC3E}">
        <p14:creationId xmlns:p14="http://schemas.microsoft.com/office/powerpoint/2010/main" val="644561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5-eyebrow">
            <a:extLst xmlns:a="http://schemas.openxmlformats.org/drawingml/2006/main">
              <a:ext uri="{FF2B5EF4-FFF2-40B4-BE49-F238E27FC236}">
                <a16:creationId xmlns:a16="http://schemas.microsoft.com/office/drawing/2014/main" id="{2462AB4A-F770-440B-BDBE-DA93AABF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14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04 / SAFETY &amp; EVIDENCE</a:t>
            </a:r>
          </a:p>
        </p:txBody>
      </p:sp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9B802231-E572-457D-BE9D-0185FBB9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Financial claims stay bounded, private, and testable.</a:t>
            </a:r>
          </a:p>
        </p:txBody>
      </p:sp>
      <p:sp>
        <p:nvSpPr>
          <p:cNvPr id="3" name="s5-rule-v">
            <a:extLst xmlns:a="http://schemas.openxmlformats.org/drawingml/2006/main">
              <a:ext uri="{FF2B5EF4-FFF2-40B4-BE49-F238E27FC236}">
                <a16:creationId xmlns:a16="http://schemas.microsoft.com/office/drawing/2014/main" id="{2D257E23-828E-425C-A517-283FDC1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24000"/>
            <a:ext cx="9525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8"/>
          </a:solidFill>
          <a:ln xmlns:a="http://schemas.openxmlformats.org/drawingml/2006/main" w="0">
            <a:solidFill>
              <a:srgbClr val="C9CEC8"/>
            </a:solidFill>
            <a:prstDash val="solid"/>
          </a:ln>
        </p:spPr>
      </p:sp>
      <p:cxnSp>
        <p:nvCxnSpPr>
          <p:cNvPr id="32" name="s5-rule-h-left"/>
          <p:cNvCxnSpPr/>
          <p:nvPr/>
        </p:nvCxnSpPr>
        <p:spPr>
          <a:xfrm xmlns:a="http://schemas.openxmlformats.org/drawingml/2006/main">
            <a:off x="495300" y="3905250"/>
            <a:ext cx="512445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cxnSp>
        <p:nvCxnSpPr>
          <p:cNvPr id="33" name="s5-rule-h-right"/>
          <p:cNvCxnSpPr/>
          <p:nvPr/>
        </p:nvCxnSpPr>
        <p:spPr>
          <a:xfrm xmlns:a="http://schemas.openxmlformats.org/drawingml/2006/main">
            <a:off x="6381750" y="3905250"/>
            <a:ext cx="531495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6" name="s5-safety-backing">
            <a:extLst xmlns:a="http://schemas.openxmlformats.org/drawingml/2006/main">
              <a:ext uri="{FF2B5EF4-FFF2-40B4-BE49-F238E27FC236}">
                <a16:creationId xmlns:a16="http://schemas.microsoft.com/office/drawing/2014/main" id="{6AE26D9A-B7DE-438C-AEFB-0201BB27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5124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9525">
            <a:solidFill>
              <a:srgbClr val="C9CEC8"/>
            </a:solidFill>
            <a:prstDash val="solid"/>
          </a:ln>
        </p:spPr>
      </p:sp>
      <p:sp>
        <p:nvSpPr>
          <p:cNvPr id="7" name="s5-safety-label">
            <a:extLst xmlns:a="http://schemas.openxmlformats.org/drawingml/2006/main">
              <a:ext uri="{FF2B5EF4-FFF2-40B4-BE49-F238E27FC236}">
                <a16:creationId xmlns:a16="http://schemas.microsoft.com/office/drawing/2014/main" id="{BDBA6BF5-ACA8-428D-81FA-E3EEACFE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643E"/>
                </a:solidFill>
                <a:latin typeface="Arial"/>
                <a:ea typeface="Arial"/>
                <a:cs typeface="Arial"/>
              </a:defRPr>
            </a:pPr>
            <a:r>
              <a:t>SAFETY FIRST</a:t>
            </a:r>
          </a:p>
        </p:txBody>
      </p:sp>
      <p:sp>
        <p:nvSpPr>
          <p:cNvPr id="8" name="s5-safety-title">
            <a:extLst xmlns:a="http://schemas.openxmlformats.org/drawingml/2006/main">
              <a:ext uri="{FF2B5EF4-FFF2-40B4-BE49-F238E27FC236}">
                <a16:creationId xmlns:a16="http://schemas.microsoft.com/office/drawing/2014/main" id="{450EA06E-F992-441E-8ACA-732CBC2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28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A monthly deficit
changes the route.</a:t>
            </a:r>
          </a:p>
        </p:txBody>
      </p:sp>
      <p:sp>
        <p:nvSpPr>
          <p:cNvPr id="9" name="s5-safety-copy">
            <a:extLst xmlns:a="http://schemas.openxmlformats.org/drawingml/2006/main">
              <a:ext uri="{FF2B5EF4-FFF2-40B4-BE49-F238E27FC236}">
                <a16:creationId xmlns:a16="http://schemas.microsoft.com/office/drawing/2014/main" id="{FA457856-1899-4552-A879-8D589907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333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Liquidity and debt
conditions come first.</a:t>
            </a:r>
          </a:p>
        </p:txBody>
      </p:sp>
      <p:sp>
        <p:nvSpPr>
          <p:cNvPr id="10" name="s5-privacy-label">
            <a:extLst xmlns:a="http://schemas.openxmlformats.org/drawingml/2006/main">
              <a:ext uri="{FF2B5EF4-FFF2-40B4-BE49-F238E27FC236}">
                <a16:creationId xmlns:a16="http://schemas.microsoft.com/office/drawing/2014/main" id="{C291521B-1DE8-46DE-B674-AA1F7A10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PRIVACY BOUNDARY</a:t>
            </a:r>
          </a:p>
        </p:txBody>
      </p:sp>
      <p:sp>
        <p:nvSpPr>
          <p:cNvPr id="11" name="s5-privacy-title">
            <a:extLst xmlns:a="http://schemas.openxmlformats.org/drawingml/2006/main">
              <a:ext uri="{FF2B5EF4-FFF2-40B4-BE49-F238E27FC236}">
                <a16:creationId xmlns:a16="http://schemas.microsoft.com/office/drawing/2014/main" id="{5D1E7A0C-BA4A-4BDC-AF4D-F69B5D21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Exact amounts, ratios, levels, and notes never reach GPT‑5.6.</a:t>
            </a:r>
          </a:p>
        </p:txBody>
      </p:sp>
      <p:sp>
        <p:nvSpPr>
          <p:cNvPr id="12" name="s5-privacy-copy">
            <a:extLst xmlns:a="http://schemas.openxmlformats.org/drawingml/2006/main">
              <a:ext uri="{FF2B5EF4-FFF2-40B4-BE49-F238E27FC236}">
                <a16:creationId xmlns:a16="http://schemas.microsoft.com/office/drawing/2014/main" id="{5BD80FB5-141F-4F4D-A466-1CD3D60F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8577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• No financial input in localStorage
• Session-only before/after comparison
• Invalid model output → deterministic fallback</a:t>
            </a:r>
          </a:p>
        </p:txBody>
      </p:sp>
      <p:sp>
        <p:nvSpPr>
          <p:cNvPr id="13" name="s5-evidence-label">
            <a:extLst xmlns:a="http://schemas.openxmlformats.org/drawingml/2006/main">
              <a:ext uri="{FF2B5EF4-FFF2-40B4-BE49-F238E27FC236}">
                <a16:creationId xmlns:a16="http://schemas.microsoft.com/office/drawing/2014/main" id="{A61F2F09-A191-4548-9A89-1AEF8041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VERIFIED</a:t>
            </a:r>
          </a:p>
        </p:txBody>
      </p:sp>
      <p:sp>
        <p:nvSpPr>
          <p:cNvPr id="14" name="s5-stat-tests">
            <a:extLst xmlns:a="http://schemas.openxmlformats.org/drawingml/2006/main">
              <a:ext uri="{FF2B5EF4-FFF2-40B4-BE49-F238E27FC236}">
                <a16:creationId xmlns:a16="http://schemas.microsoft.com/office/drawing/2014/main" id="{F5D6732F-B297-41D7-8E39-5528DF21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106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54</a:t>
            </a:r>
          </a:p>
        </p:txBody>
      </p:sp>
      <p:sp>
        <p:nvSpPr>
          <p:cNvPr id="15" name="s5-stat-tests-label">
            <a:extLst xmlns:a="http://schemas.openxmlformats.org/drawingml/2006/main">
              <a:ext uri="{FF2B5EF4-FFF2-40B4-BE49-F238E27FC236}">
                <a16:creationId xmlns:a16="http://schemas.microsoft.com/office/drawing/2014/main" id="{1C81ED9F-F970-4E31-8255-C530ACB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tests passing</a:t>
            </a:r>
          </a:p>
        </p:txBody>
      </p:sp>
      <p:sp>
        <p:nvSpPr>
          <p:cNvPr id="16" name="s5-stat-levels">
            <a:extLst xmlns:a="http://schemas.openxmlformats.org/drawingml/2006/main">
              <a:ext uri="{FF2B5EF4-FFF2-40B4-BE49-F238E27FC236}">
                <a16:creationId xmlns:a16="http://schemas.microsoft.com/office/drawing/2014/main" id="{C10D2E1F-E172-423E-ACFE-7820DE8F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14850"/>
            <a:ext cx="106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7B66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17" name="s5-stat-levels-label">
            <a:extLst xmlns:a="http://schemas.openxmlformats.org/drawingml/2006/main">
              <a:ext uri="{FF2B5EF4-FFF2-40B4-BE49-F238E27FC236}">
                <a16:creationId xmlns:a16="http://schemas.microsoft.com/office/drawing/2014/main" id="{FBA63CCF-904E-413D-A7D0-AD90F222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435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 bands</a:t>
            </a:r>
          </a:p>
        </p:txBody>
      </p:sp>
      <p:sp>
        <p:nvSpPr>
          <p:cNvPr id="18" name="s5-stat-groups">
            <a:extLst xmlns:a="http://schemas.openxmlformats.org/drawingml/2006/main">
              <a:ext uri="{FF2B5EF4-FFF2-40B4-BE49-F238E27FC236}">
                <a16:creationId xmlns:a16="http://schemas.microsoft.com/office/drawing/2014/main" id="{911F0F33-7E90-459D-A04D-1ECFB03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1066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19" name="s5-stat-groups-label">
            <a:extLst xmlns:a="http://schemas.openxmlformats.org/drawingml/2006/main">
              <a:ext uri="{FF2B5EF4-FFF2-40B4-BE49-F238E27FC236}">
                <a16:creationId xmlns:a16="http://schemas.microsoft.com/office/drawing/2014/main" id="{151C9EED-E267-4392-A1B6-C1CECAF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asset groups</a:t>
            </a:r>
          </a:p>
        </p:txBody>
      </p:sp>
      <p:sp>
        <p:nvSpPr>
          <p:cNvPr id="20" name="s5-evidence-copy">
            <a:extLst xmlns:a="http://schemas.openxmlformats.org/drawingml/2006/main">
              <a:ext uri="{FF2B5EF4-FFF2-40B4-BE49-F238E27FC236}">
                <a16:creationId xmlns:a16="http://schemas.microsoft.com/office/drawing/2014/main" id="{04C1A2D4-800A-469B-B4A4-C1DF1E0B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512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2D25"/>
                </a:solidFill>
                <a:latin typeface="Arial"/>
                <a:ea typeface="Arial"/>
                <a:cs typeface="Arial"/>
              </a:defRPr>
            </a:pPr>
            <a:r>
              <a:t>Strict wealth-report-v2 · live Cloud Run smoke verified</a:t>
            </a:r>
          </a:p>
        </p:txBody>
      </p:sp>
      <p:sp>
        <p:nvSpPr>
          <p:cNvPr id="21" name="s5-terminal-backing">
            <a:extLst xmlns:a="http://schemas.openxmlformats.org/drawingml/2006/main">
              <a:ext uri="{FF2B5EF4-FFF2-40B4-BE49-F238E27FC236}">
                <a16:creationId xmlns:a16="http://schemas.microsoft.com/office/drawing/2014/main" id="{C250EF29-2276-474A-9C82-D70DDE67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3149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92C25"/>
          </a:solidFill>
          <a:ln xmlns:a="http://schemas.openxmlformats.org/drawingml/2006/main" w="0">
            <a:solidFill>
              <a:srgbClr val="092C25"/>
            </a:solidFill>
            <a:prstDash val="solid"/>
          </a:ln>
        </p:spPr>
      </p:sp>
      <p:sp>
        <p:nvSpPr>
          <p:cNvPr id="22" name="s5-terminal-label">
            <a:extLst xmlns:a="http://schemas.openxmlformats.org/drawingml/2006/main">
              <a:ext uri="{FF2B5EF4-FFF2-40B4-BE49-F238E27FC236}">
                <a16:creationId xmlns:a16="http://schemas.microsoft.com/office/drawing/2014/main" id="{F10C8B9A-488E-4C44-8882-0C42866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L15 IS TERMINAL</a:t>
            </a:r>
          </a:p>
        </p:txBody>
      </p:sp>
      <p:sp>
        <p:nvSpPr>
          <p:cNvPr id="23" name="s5-terminal-copy">
            <a:extLst xmlns:a="http://schemas.openxmlformats.org/drawingml/2006/main">
              <a:ext uri="{FF2B5EF4-FFF2-40B4-BE49-F238E27FC236}">
                <a16:creationId xmlns:a16="http://schemas.microsoft.com/office/drawing/2014/main" id="{A9FA6605-09B4-4055-9A89-4668352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fictional L16.
The report shifts to governance.</a:t>
            </a:r>
          </a:p>
        </p:txBody>
      </p:sp>
      <p:cxnSp>
        <p:nvCxnSpPr>
          <p:cNvPr id="52" name="footer-rule-5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C8"/>
            </a:solidFill>
            <a:prstDash val="solid"/>
          </a:ln>
        </p:spPr>
      </p:cxnSp>
      <p:sp>
        <p:nvSpPr>
          <p:cNvPr id="2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7F9DA4DF-D46F-482D-9EE4-7BF7A878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26" name="footer-num-5">
            <a:extLst xmlns:a="http://schemas.openxmlformats.org/drawingml/2006/main">
              <a:ext uri="{FF2B5EF4-FFF2-40B4-BE49-F238E27FC236}">
                <a16:creationId xmlns:a16="http://schemas.microsoft.com/office/drawing/2014/main" id="{996BA3B8-AB0B-4227-B5F1-A9FDE7E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A6A64"/>
                </a:solidFill>
                <a:latin typeface="Arial"/>
                <a:ea typeface="Arial"/>
                <a:cs typeface="Arial"/>
              </a:defRPr>
            </a:pPr>
            <a:r>
              <a:t>05 / 06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99a72a52a4b8a"/>
          <a:srcRect xmlns:a="http://schemas.openxmlformats.org/drawingml/2006/main" l="11263" t="0" r="112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752600"/>
            <a:ext cx="2228850" cy="16192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99d1156384787"/>
          <a:srcRect xmlns:a="http://schemas.openxmlformats.org/drawingml/2006/main" l="14609" t="0" r="146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400550"/>
            <a:ext cx="1581150" cy="1257300"/>
          </a:xfrm>
          <a:prstGeom xmlns:a="http://schemas.openxmlformats.org/drawingml/2006/main" prst="roundRect">
            <a:avLst>
              <a:gd name="adj" fmla="val 7576"/>
            </a:avLst>
          </a:prstGeom>
        </p:spPr>
      </p:pic>
    </p:spTree>
    <p:extLst>
      <p:ext uri="{BB962C8B-B14F-4D97-AF65-F5344CB8AC3E}">
        <p14:creationId xmlns:p14="http://schemas.microsoft.com/office/powerpoint/2010/main" val="568339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2C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6-session">
            <a:extLst xmlns:a="http://schemas.openxmlformats.org/drawingml/2006/main">
              <a:ext uri="{FF2B5EF4-FFF2-40B4-BE49-F238E27FC236}">
                <a16:creationId xmlns:a16="http://schemas.microsoft.com/office/drawing/2014/main" id="{8FB991C5-5DD3-4F8A-8F3C-B1ECCEB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LIVE SESSION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33FF60DE-8C70-4567-A70C-937624B5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66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Make the next wealth
structure clear.</a:t>
            </a:r>
          </a:p>
        </p:txBody>
      </p:sp>
      <p:sp>
        <p:nvSpPr>
          <p:cNvPr id="3" name="s6-subtitle">
            <a:extLst xmlns:a="http://schemas.openxmlformats.org/drawingml/2006/main">
              <a:ext uri="{FF2B5EF4-FFF2-40B4-BE49-F238E27FC236}">
                <a16:creationId xmlns:a16="http://schemas.microsoft.com/office/drawing/2014/main" id="{E5BE05BE-DF0B-427D-8B8E-51A3AD0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619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1E4DE"/>
                </a:solidFill>
                <a:latin typeface="Arial"/>
                <a:ea typeface="Arial"/>
                <a:cs typeface="Arial"/>
              </a:defRPr>
            </a:pPr>
            <a:r>
              <a:t>Open the product, run the L6 sample, then edit one variable to watch the report reconnect.</a:t>
            </a:r>
          </a:p>
        </p:txBody>
      </p:sp>
      <p:cxnSp>
        <p:nvCxnSpPr>
          <p:cNvPr id="19" name="s6-accent-rule"/>
          <p:cNvCxnSpPr/>
          <p:nvPr/>
        </p:nvCxnSpPr>
        <p:spPr>
          <a:xfrm xmlns:a="http://schemas.openxmlformats.org/drawingml/2006/main">
            <a:off x="495300" y="4686300"/>
            <a:ext cx="1123950" cy="191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4D5C0"/>
            </a:solidFill>
            <a:prstDash val="solid"/>
          </a:ln>
        </p:spPr>
      </p:cxnSp>
      <p:sp>
        <p:nvSpPr>
          <p:cNvPr id="5" name="s6-live-label">
            <a:extLst xmlns:a="http://schemas.openxmlformats.org/drawingml/2006/main">
              <a:ext uri="{FF2B5EF4-FFF2-40B4-BE49-F238E27FC236}">
                <a16:creationId xmlns:a16="http://schemas.microsoft.com/office/drawing/2014/main" id="{B1620E55-6614-4363-8784-034A757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LIVE PRODUCT</a:t>
            </a:r>
          </a:p>
        </p:txBody>
      </p:sp>
      <p:sp>
        <p:nvSpPr>
          <p:cNvPr id="6" name="s6-url">
            <a:extLst xmlns:a="http://schemas.openxmlformats.org/drawingml/2006/main">
              <a:ext uri="{FF2B5EF4-FFF2-40B4-BE49-F238E27FC236}">
                <a16:creationId xmlns:a16="http://schemas.microsoft.com/office/drawing/2014/main" id="{D787577B-024E-43CE-B451-F57BFF3D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wealth-copy-470320899177.asia-northeast3.run.app</a:t>
            </a:r>
          </a:p>
        </p:txBody>
      </p:sp>
      <p:sp>
        <p:nvSpPr>
          <p:cNvPr id="7" name="s6-proof">
            <a:extLst xmlns:a="http://schemas.openxmlformats.org/drawingml/2006/main">
              <a:ext uri="{FF2B5EF4-FFF2-40B4-BE49-F238E27FC236}">
                <a16:creationId xmlns:a16="http://schemas.microsoft.com/office/drawing/2014/main" id="{263459DD-0AB7-4809-9EA4-48385DD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C2B9"/>
                </a:solidFill>
                <a:latin typeface="Arial"/>
                <a:ea typeface="Arial"/>
                <a:cs typeface="Arial"/>
              </a:defRPr>
            </a:pPr>
            <a:r>
              <a:t>Built with GPT‑5.6 · Deployed on Google Cloud Run · 54 tests passing</a:t>
            </a:r>
          </a:p>
        </p:txBody>
      </p:sp>
      <p:sp>
        <p:nvSpPr>
          <p:cNvPr id="8" name="s6-device-back">
            <a:extLst xmlns:a="http://schemas.openxmlformats.org/drawingml/2006/main">
              <a:ext uri="{FF2B5EF4-FFF2-40B4-BE49-F238E27FC236}">
                <a16:creationId xmlns:a16="http://schemas.microsoft.com/office/drawing/2014/main" id="{668F47B8-1F4F-4F0C-9B4F-5EA68728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3400"/>
            <a:ext cx="2914650" cy="56578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84D5C0"/>
          </a:solidFill>
          <a:ln xmlns:a="http://schemas.openxmlformats.org/drawingml/2006/main" w="0">
            <a:solidFill>
              <a:srgbClr val="84D5C0"/>
            </a:solidFill>
            <a:prstDash val="solid"/>
          </a:ln>
        </p:spPr>
      </p:sp>
      <p:sp>
        <p:nvSpPr>
          <p:cNvPr id="9" name="s6-band-mark">
            <a:extLst xmlns:a="http://schemas.openxmlformats.org/drawingml/2006/main">
              <a:ext uri="{FF2B5EF4-FFF2-40B4-BE49-F238E27FC236}">
                <a16:creationId xmlns:a16="http://schemas.microsoft.com/office/drawing/2014/main" id="{3D30DF66-07D1-4AEC-AF3C-7F661716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14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L1 → L15</a:t>
            </a:r>
          </a:p>
        </p:txBody>
      </p:sp>
      <p:cxnSp>
        <p:nvCxnSpPr>
          <p:cNvPr id="25" name="footer-rule-6"/>
          <p:cNvCxnSpPr/>
          <p:nvPr/>
        </p:nvCxnSpPr>
        <p:spPr>
          <a:xfrm xmlns:a="http://schemas.openxmlformats.org/drawingml/2006/main">
            <a:off x="495300" y="6438900"/>
            <a:ext cx="112014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5594F"/>
            </a:solidFill>
            <a:prstDash val="solid"/>
          </a:ln>
        </p:spPr>
      </p:cxnSp>
      <p:sp>
        <p:nvSpPr>
          <p:cNvPr id="11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53CF53AD-8E81-4BA6-A5DD-27C8C1C9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0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C2B9"/>
                </a:solidFill>
                <a:latin typeface="Arial"/>
                <a:ea typeface="Arial"/>
                <a:cs typeface="Arial"/>
              </a:defRPr>
            </a:pPr>
            <a:r>
              <a:t>WEALTHCOPY · OPENAI BUILD WEEK 2026</a:t>
            </a:r>
          </a:p>
        </p:txBody>
      </p:sp>
      <p:sp>
        <p:nvSpPr>
          <p:cNvPr id="12" name="footer-num-6">
            <a:extLst xmlns:a="http://schemas.openxmlformats.org/drawingml/2006/main">
              <a:ext uri="{FF2B5EF4-FFF2-40B4-BE49-F238E27FC236}">
                <a16:creationId xmlns:a16="http://schemas.microsoft.com/office/drawing/2014/main" id="{131B1897-B18F-45DF-88D7-15780C3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C2B9"/>
                </a:solidFill>
                <a:latin typeface="Arial"/>
                <a:ea typeface="Arial"/>
                <a:cs typeface="Arial"/>
              </a:defRPr>
            </a:pPr>
            <a:r>
              <a:t>06 / 06</a:t>
            </a:r>
          </a:p>
        </p:txBody>
      </p:sp>
      <p:sp>
        <p:nvSpPr>
          <p:cNvPr id="13" name="brand-mark">
            <a:extLst xmlns:a="http://schemas.openxmlformats.org/drawingml/2006/main">
              <a:ext uri="{FF2B5EF4-FFF2-40B4-BE49-F238E27FC236}">
                <a16:creationId xmlns:a16="http://schemas.microsoft.com/office/drawing/2014/main" id="{4EBF9F61-94F7-4D6C-87F0-8340192E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4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4D5C0"/>
                </a:solidFill>
                <a:latin typeface="Arial"/>
                <a:ea typeface="Arial"/>
                <a:cs typeface="Arial"/>
              </a:defRPr>
            </a:pPr>
            <a:r>
              <a:t>W</a:t>
            </a:r>
          </a:p>
        </p:txBody>
      </p:sp>
      <p:sp>
        <p:nvSpPr>
          <p:cNvPr id="14" name="brand-name">
            <a:extLst xmlns:a="http://schemas.openxmlformats.org/drawingml/2006/main">
              <a:ext uri="{FF2B5EF4-FFF2-40B4-BE49-F238E27FC236}">
                <a16:creationId xmlns:a16="http://schemas.microsoft.com/office/drawing/2014/main" id="{E539EE7F-35F6-4B74-8339-37E4F00C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8625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WealthCopy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a5801214741be"/>
          <a:srcRect xmlns:a="http://schemas.openxmlformats.org/drawingml/2006/main" l="36580" t="0" r="36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15325" y="685800"/>
            <a:ext cx="2552700" cy="5353050"/>
          </a:xfrm>
          <a:prstGeom xmlns:a="http://schemas.openxmlformats.org/drawingml/2006/main" prst="roundRect">
            <a:avLst>
              <a:gd name="adj" fmla="val 6716"/>
            </a:avLst>
          </a:prstGeom>
        </p:spPr>
      </p:pic>
    </p:spTree>
    <p:extLst>
      <p:ext uri="{BB962C8B-B14F-4D97-AF65-F5344CB8AC3E}">
        <p14:creationId xmlns:p14="http://schemas.microsoft.com/office/powerpoint/2010/main" val="376128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2026-07-20T07:39:13.7280000Z</dcterms:created>
  <dcterms:modified xsi:type="dcterms:W3CDTF">2026-07-20T07:39:13.7280000Z</dcterms:modified>
</coreProperties>
</file>